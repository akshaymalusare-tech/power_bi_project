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3" r:id="rId2"/>
    <p:sldId id="257" r:id="rId3"/>
    <p:sldId id="256" r:id="rId4"/>
    <p:sldId id="258" r:id="rId5"/>
    <p:sldId id="260" r:id="rId6"/>
    <p:sldId id="261" r:id="rId7"/>
    <p:sldId id="262" r:id="rId8"/>
    <p:sldId id="259"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E460C8-CC68-4852-BE9F-E53E2AB21C69}" type="datetimeFigureOut">
              <a:rPr lang="en-IN" smtClean="0"/>
              <a:t>04-08-2025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C35981-D3D7-4B39-A457-9C4389F2D522}" type="slidenum">
              <a:rPr lang="en-IN" smtClean="0"/>
              <a:t>‹#›</a:t>
            </a:fld>
            <a:endParaRPr lang="en-IN"/>
          </a:p>
        </p:txBody>
      </p:sp>
    </p:spTree>
    <p:extLst>
      <p:ext uri="{BB962C8B-B14F-4D97-AF65-F5344CB8AC3E}">
        <p14:creationId xmlns:p14="http://schemas.microsoft.com/office/powerpoint/2010/main" val="2256413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C35981-D3D7-4B39-A457-9C4389F2D522}" type="slidenum">
              <a:rPr lang="en-IN" smtClean="0"/>
              <a:t>3</a:t>
            </a:fld>
            <a:endParaRPr lang="en-IN"/>
          </a:p>
        </p:txBody>
      </p:sp>
    </p:spTree>
    <p:extLst>
      <p:ext uri="{BB962C8B-B14F-4D97-AF65-F5344CB8AC3E}">
        <p14:creationId xmlns:p14="http://schemas.microsoft.com/office/powerpoint/2010/main" val="4145507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EE3E-1D04-67A3-2D69-0EECC3AB88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4CF7C9-A3C7-3DE0-C918-5BA0A2A90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DBB081-8F8D-1164-9387-1C4D8450DECC}"/>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5" name="Footer Placeholder 4">
            <a:extLst>
              <a:ext uri="{FF2B5EF4-FFF2-40B4-BE49-F238E27FC236}">
                <a16:creationId xmlns:a16="http://schemas.microsoft.com/office/drawing/2014/main" id="{15CB34EC-63E7-A8E7-0777-EFB7A31222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BCFEAE-08BA-C819-AC12-8C65F29FEABC}"/>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3086542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112FE-457B-A36A-BF32-22BDE7357E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7B32F1-94CA-6FF5-3BA0-84325FF002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2D6557-3CFA-1BE8-65AF-290D37F7A174}"/>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5" name="Footer Placeholder 4">
            <a:extLst>
              <a:ext uri="{FF2B5EF4-FFF2-40B4-BE49-F238E27FC236}">
                <a16:creationId xmlns:a16="http://schemas.microsoft.com/office/drawing/2014/main" id="{64F1533F-087E-367A-A80C-75258968F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4FAFCD-DD59-0EBC-4B6E-CE5849133986}"/>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3521215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F98D0-CB83-83C1-1E42-810FABDEFE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D250368-1E04-E8ED-9F1A-7A3BEA45A2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5B7573-D97C-5966-4B0A-F7068233144B}"/>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5" name="Footer Placeholder 4">
            <a:extLst>
              <a:ext uri="{FF2B5EF4-FFF2-40B4-BE49-F238E27FC236}">
                <a16:creationId xmlns:a16="http://schemas.microsoft.com/office/drawing/2014/main" id="{9F5D9E2C-9671-96C6-22DC-18D3F89C57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DC22A3-9B2E-D081-8B2B-E34A77EA83C8}"/>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2644239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FE179-7E88-319D-153F-515DADB460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6F7FA1-81C8-8FCF-7189-11AF9B59B8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2E538A8-ACC6-5537-34C8-B9CB949EC1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F799FD-4ACF-4F42-45D7-2299516DB75D}"/>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6" name="Footer Placeholder 5">
            <a:extLst>
              <a:ext uri="{FF2B5EF4-FFF2-40B4-BE49-F238E27FC236}">
                <a16:creationId xmlns:a16="http://schemas.microsoft.com/office/drawing/2014/main" id="{7436C25E-FFDF-EDC5-7FFA-9ABA601D1C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D4D82E-6283-2E2B-8009-8B0B705E47EC}"/>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3367919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97E4-EF72-987E-0BFB-D01D938CF3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B6CD1E-7B00-CC5B-2735-EECF6E2679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A15916-85FF-15B4-5F81-4C51154FC7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D2C34E3-527C-E947-6679-62C6067457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634695-C134-9A18-60D0-3DADE23F49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1080E7-1687-9BAA-13A9-BA110AD23A68}"/>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8" name="Footer Placeholder 7">
            <a:extLst>
              <a:ext uri="{FF2B5EF4-FFF2-40B4-BE49-F238E27FC236}">
                <a16:creationId xmlns:a16="http://schemas.microsoft.com/office/drawing/2014/main" id="{F7FDEDE5-1FA1-C84D-94D6-7CECA74F23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62CD5CD-FA3C-0498-97A1-0AF5D4A62710}"/>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3211246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D6407-D38F-9F15-06C6-3DE4AAECB1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FE3815-2541-B753-CFBF-585C64AADE24}"/>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4" name="Footer Placeholder 3">
            <a:extLst>
              <a:ext uri="{FF2B5EF4-FFF2-40B4-BE49-F238E27FC236}">
                <a16:creationId xmlns:a16="http://schemas.microsoft.com/office/drawing/2014/main" id="{612A062F-BD5D-E942-9370-569AF3199E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AEEDC3-D165-99B6-7A89-C884B5A9581C}"/>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4001073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A1ACA-D3E0-6A72-22CD-51FEEC3C6007}"/>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3" name="Footer Placeholder 2">
            <a:extLst>
              <a:ext uri="{FF2B5EF4-FFF2-40B4-BE49-F238E27FC236}">
                <a16:creationId xmlns:a16="http://schemas.microsoft.com/office/drawing/2014/main" id="{9683B8AE-F069-61BB-212A-A69073FE5AD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75F2F7-63C4-9A48-D9AA-834B9CBB5214}"/>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339493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2033C-E986-37C6-F012-42EA13BCCB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F0B40B-B031-B207-D14F-0DFDDED014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19AAEDB-A520-3344-3374-339243ADE2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143C33-4983-5E3D-44DD-9698895FAFF0}"/>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6" name="Footer Placeholder 5">
            <a:extLst>
              <a:ext uri="{FF2B5EF4-FFF2-40B4-BE49-F238E27FC236}">
                <a16:creationId xmlns:a16="http://schemas.microsoft.com/office/drawing/2014/main" id="{0EE608E7-78A1-8AEE-C915-29DE1DCEDA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FCC570-7CAE-90C8-D3CD-1BA273EF374D}"/>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2166050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718BB-92D0-1886-991E-B174CE0779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8DB8637-8169-9B8B-9E8A-247C4282CA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F8D154-2C73-9B51-E36A-BBDDB275E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C1B1BF-0FD0-8E61-0364-C7E348A73505}"/>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6" name="Footer Placeholder 5">
            <a:extLst>
              <a:ext uri="{FF2B5EF4-FFF2-40B4-BE49-F238E27FC236}">
                <a16:creationId xmlns:a16="http://schemas.microsoft.com/office/drawing/2014/main" id="{D8702B4F-22A8-EA95-2F0E-F6FEC9D0FB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098745-420A-8A6A-DE7B-2B4DF0F0433C}"/>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357081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DB2B4-B8B0-D214-B71A-A0059399DE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23E84B-35DC-A3FB-A5EB-137AF4EF85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2AEC03-1ACD-B310-4242-4BD1FFF7F1C8}"/>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5" name="Footer Placeholder 4">
            <a:extLst>
              <a:ext uri="{FF2B5EF4-FFF2-40B4-BE49-F238E27FC236}">
                <a16:creationId xmlns:a16="http://schemas.microsoft.com/office/drawing/2014/main" id="{FBCB2866-65D5-7814-03FF-6A5A3E572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B55D8D-165D-5EC3-C4B1-86A31F473C4E}"/>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2685375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361457-FDAA-96AF-3419-64AE74DF96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599447-BF93-AE07-9450-23A35CB532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0305B1-E9EC-65B2-8580-626CB69857E8}"/>
              </a:ext>
            </a:extLst>
          </p:cNvPr>
          <p:cNvSpPr>
            <a:spLocks noGrp="1"/>
          </p:cNvSpPr>
          <p:nvPr>
            <p:ph type="dt" sz="half" idx="10"/>
          </p:nvPr>
        </p:nvSpPr>
        <p:spPr/>
        <p:txBody>
          <a:bodyPr/>
          <a:lstStyle/>
          <a:p>
            <a:fld id="{EB52B5D6-3B8C-4498-B386-641D31FEBBA6}" type="datetimeFigureOut">
              <a:rPr lang="en-IN" smtClean="0"/>
              <a:t>04-08-2025</a:t>
            </a:fld>
            <a:endParaRPr lang="en-IN"/>
          </a:p>
        </p:txBody>
      </p:sp>
      <p:sp>
        <p:nvSpPr>
          <p:cNvPr id="5" name="Footer Placeholder 4">
            <a:extLst>
              <a:ext uri="{FF2B5EF4-FFF2-40B4-BE49-F238E27FC236}">
                <a16:creationId xmlns:a16="http://schemas.microsoft.com/office/drawing/2014/main" id="{26318C93-ECBF-FDD1-C49C-02231F5A2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A17C5D-FC76-A260-AEB1-19FDC5627A0A}"/>
              </a:ext>
            </a:extLst>
          </p:cNvPr>
          <p:cNvSpPr>
            <a:spLocks noGrp="1"/>
          </p:cNvSpPr>
          <p:nvPr>
            <p:ph type="sldNum" sz="quarter" idx="12"/>
          </p:nvPr>
        </p:nvSpPr>
        <p:spPr/>
        <p:txBody>
          <a:bodyPr/>
          <a:lstStyle/>
          <a:p>
            <a:fld id="{E7B4F4AD-AAD3-4347-B3EE-579C00CD2FED}" type="slidenum">
              <a:rPr lang="en-IN" smtClean="0"/>
              <a:t>‹#›</a:t>
            </a:fld>
            <a:endParaRPr lang="en-IN"/>
          </a:p>
        </p:txBody>
      </p:sp>
    </p:spTree>
    <p:extLst>
      <p:ext uri="{BB962C8B-B14F-4D97-AF65-F5344CB8AC3E}">
        <p14:creationId xmlns:p14="http://schemas.microsoft.com/office/powerpoint/2010/main" val="238648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CC5878-6D37-341E-969C-ED1FDCC737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8F7F23-31BD-0992-2DCC-AB116EEF12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DA9966-7B96-5B51-1DE9-1E0C91B1C1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52B5D6-3B8C-4498-B386-641D31FEBBA6}" type="datetimeFigureOut">
              <a:rPr lang="en-IN" smtClean="0"/>
              <a:t>04-08-2025</a:t>
            </a:fld>
            <a:endParaRPr lang="en-IN"/>
          </a:p>
        </p:txBody>
      </p:sp>
      <p:sp>
        <p:nvSpPr>
          <p:cNvPr id="5" name="Footer Placeholder 4">
            <a:extLst>
              <a:ext uri="{FF2B5EF4-FFF2-40B4-BE49-F238E27FC236}">
                <a16:creationId xmlns:a16="http://schemas.microsoft.com/office/drawing/2014/main" id="{1752C7DC-B93E-B6BA-80F7-28A30D4459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EDC057B-2F42-AE32-894E-DABE91ED88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B4F4AD-AAD3-4347-B3EE-579C00CD2FED}" type="slidenum">
              <a:rPr lang="en-IN" smtClean="0"/>
              <a:t>‹#›</a:t>
            </a:fld>
            <a:endParaRPr lang="en-IN"/>
          </a:p>
        </p:txBody>
      </p:sp>
    </p:spTree>
    <p:extLst>
      <p:ext uri="{BB962C8B-B14F-4D97-AF65-F5344CB8AC3E}">
        <p14:creationId xmlns:p14="http://schemas.microsoft.com/office/powerpoint/2010/main" val="4097141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large hospital building with cars parked in front of it">
            <a:extLst>
              <a:ext uri="{FF2B5EF4-FFF2-40B4-BE49-F238E27FC236}">
                <a16:creationId xmlns:a16="http://schemas.microsoft.com/office/drawing/2014/main" id="{807E5C8C-4E9E-4CF0-8BEC-8D07F1EFDB79}"/>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7510071" cy="6830731"/>
          </a:xfrm>
          <a:prstGeom prst="rect">
            <a:avLst/>
          </a:prstGeom>
        </p:spPr>
      </p:pic>
      <p:sp>
        <p:nvSpPr>
          <p:cNvPr id="6" name="TextBox 5">
            <a:extLst>
              <a:ext uri="{FF2B5EF4-FFF2-40B4-BE49-F238E27FC236}">
                <a16:creationId xmlns:a16="http://schemas.microsoft.com/office/drawing/2014/main" id="{BF147B86-9BF5-0C73-E074-57C6B7E2ADE6}"/>
              </a:ext>
            </a:extLst>
          </p:cNvPr>
          <p:cNvSpPr txBox="1"/>
          <p:nvPr/>
        </p:nvSpPr>
        <p:spPr>
          <a:xfrm>
            <a:off x="7510071" y="1235036"/>
            <a:ext cx="5202349" cy="1754326"/>
          </a:xfrm>
          <a:prstGeom prst="rect">
            <a:avLst/>
          </a:prstGeom>
          <a:noFill/>
        </p:spPr>
        <p:txBody>
          <a:bodyPr wrap="square" rtlCol="0">
            <a:spAutoFit/>
          </a:bodyPr>
          <a:lstStyle/>
          <a:p>
            <a:r>
              <a:rPr lang="en-IN" sz="5400" b="1" i="1" dirty="0">
                <a:effectLst>
                  <a:outerShdw blurRad="38100" dist="38100" dir="2700000" algn="tl">
                    <a:srgbClr val="000000">
                      <a:alpha val="43137"/>
                    </a:srgbClr>
                  </a:outerShdw>
                </a:effectLst>
                <a:latin typeface="Constantia" panose="02030602050306030303" pitchFamily="18" charset="0"/>
              </a:rPr>
              <a:t>Hospital </a:t>
            </a:r>
          </a:p>
          <a:p>
            <a:r>
              <a:rPr lang="en-IN" sz="5400" b="1" i="1" dirty="0">
                <a:effectLst>
                  <a:outerShdw blurRad="38100" dist="38100" dir="2700000" algn="tl">
                    <a:srgbClr val="000000">
                      <a:alpha val="43137"/>
                    </a:srgbClr>
                  </a:outerShdw>
                </a:effectLst>
                <a:latin typeface="Constantia" panose="02030602050306030303" pitchFamily="18" charset="0"/>
              </a:rPr>
              <a:t>Data Analysis</a:t>
            </a:r>
          </a:p>
        </p:txBody>
      </p:sp>
    </p:spTree>
    <p:extLst>
      <p:ext uri="{BB962C8B-B14F-4D97-AF65-F5344CB8AC3E}">
        <p14:creationId xmlns:p14="http://schemas.microsoft.com/office/powerpoint/2010/main" val="753365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medical data analysis">
            <a:extLst>
              <a:ext uri="{FF2B5EF4-FFF2-40B4-BE49-F238E27FC236}">
                <a16:creationId xmlns:a16="http://schemas.microsoft.com/office/drawing/2014/main" id="{23A3EEFF-271E-4F3B-C88C-22039353CC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3847216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number on a white background&#10;&#10;AI-generated content may be incorrect.">
            <a:extLst>
              <a:ext uri="{FF2B5EF4-FFF2-40B4-BE49-F238E27FC236}">
                <a16:creationId xmlns:a16="http://schemas.microsoft.com/office/drawing/2014/main" id="{C42C2EFF-E7E0-0F91-AEDD-623BD637A1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614" y="781925"/>
            <a:ext cx="2010056" cy="1266365"/>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pic>
        <p:nvPicPr>
          <p:cNvPr id="7" name="Picture 6" descr="A number on a white background&#10;&#10;AI-generated content may be incorrect.">
            <a:extLst>
              <a:ext uri="{FF2B5EF4-FFF2-40B4-BE49-F238E27FC236}">
                <a16:creationId xmlns:a16="http://schemas.microsoft.com/office/drawing/2014/main" id="{AB27E49C-0529-EA31-3E3F-0F0C33B56E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719" y="2341571"/>
            <a:ext cx="1971951" cy="1266365"/>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Picture 8" descr="A number on a white background&#10;&#10;AI-generated content may be incorrect.">
            <a:extLst>
              <a:ext uri="{FF2B5EF4-FFF2-40B4-BE49-F238E27FC236}">
                <a16:creationId xmlns:a16="http://schemas.microsoft.com/office/drawing/2014/main" id="{11874F84-96D8-6327-F230-5950C2D67D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3034" y="3883246"/>
            <a:ext cx="2010056" cy="1266365"/>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7" name="Picture 16" descr="A close up of numbers&#10;&#10;AI-generated content may be incorrect.">
            <a:extLst>
              <a:ext uri="{FF2B5EF4-FFF2-40B4-BE49-F238E27FC236}">
                <a16:creationId xmlns:a16="http://schemas.microsoft.com/office/drawing/2014/main" id="{5D34D54B-DA72-6469-388F-532C6767F6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2560" y="5506448"/>
            <a:ext cx="1991003" cy="1267002"/>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20" name="TextBox 19">
            <a:extLst>
              <a:ext uri="{FF2B5EF4-FFF2-40B4-BE49-F238E27FC236}">
                <a16:creationId xmlns:a16="http://schemas.microsoft.com/office/drawing/2014/main" id="{F4D17763-E434-17FA-99AB-F4AD0C57C3A9}"/>
              </a:ext>
            </a:extLst>
          </p:cNvPr>
          <p:cNvSpPr txBox="1"/>
          <p:nvPr/>
        </p:nvSpPr>
        <p:spPr>
          <a:xfrm>
            <a:off x="3140440" y="178826"/>
            <a:ext cx="2338465" cy="523220"/>
          </a:xfrm>
          <a:prstGeom prst="rect">
            <a:avLst/>
          </a:prstGeom>
          <a:noFill/>
        </p:spPr>
        <p:txBody>
          <a:bodyPr wrap="square" rtlCol="0">
            <a:spAutoFit/>
          </a:bodyPr>
          <a:lstStyle/>
          <a:p>
            <a:r>
              <a:rPr lang="en-IN" sz="2800" b="1" u="sng" dirty="0">
                <a:effectLst>
                  <a:outerShdw blurRad="38100" dist="38100" dir="2700000" algn="tl">
                    <a:srgbClr val="000000">
                      <a:alpha val="43137"/>
                    </a:srgbClr>
                  </a:outerShdw>
                </a:effectLst>
                <a:latin typeface="Constantia" panose="02030602050306030303" pitchFamily="18" charset="0"/>
              </a:rPr>
              <a:t>Measures :-</a:t>
            </a:r>
          </a:p>
        </p:txBody>
      </p:sp>
      <p:sp>
        <p:nvSpPr>
          <p:cNvPr id="21" name="TextBox 20">
            <a:extLst>
              <a:ext uri="{FF2B5EF4-FFF2-40B4-BE49-F238E27FC236}">
                <a16:creationId xmlns:a16="http://schemas.microsoft.com/office/drawing/2014/main" id="{B7CC60F9-6F11-BAFB-06E9-EE80BC671077}"/>
              </a:ext>
            </a:extLst>
          </p:cNvPr>
          <p:cNvSpPr txBox="1"/>
          <p:nvPr/>
        </p:nvSpPr>
        <p:spPr>
          <a:xfrm>
            <a:off x="3140440" y="998281"/>
            <a:ext cx="5996065" cy="830997"/>
          </a:xfrm>
          <a:prstGeom prst="rect">
            <a:avLst/>
          </a:prstGeom>
          <a:noFill/>
        </p:spPr>
        <p:txBody>
          <a:bodyPr wrap="square" rtlCol="0">
            <a:spAutoFit/>
          </a:bodyPr>
          <a:lstStyle/>
          <a:p>
            <a:r>
              <a:rPr lang="en-IN" sz="2400" dirty="0"/>
              <a:t>Total Number of Patients Admitted in the      Hospital</a:t>
            </a:r>
          </a:p>
        </p:txBody>
      </p:sp>
      <p:sp>
        <p:nvSpPr>
          <p:cNvPr id="24" name="TextBox 23">
            <a:extLst>
              <a:ext uri="{FF2B5EF4-FFF2-40B4-BE49-F238E27FC236}">
                <a16:creationId xmlns:a16="http://schemas.microsoft.com/office/drawing/2014/main" id="{D57BB0A4-44DC-F54B-37D2-98B574B8CA4A}"/>
              </a:ext>
            </a:extLst>
          </p:cNvPr>
          <p:cNvSpPr txBox="1"/>
          <p:nvPr/>
        </p:nvSpPr>
        <p:spPr>
          <a:xfrm>
            <a:off x="3140440" y="2559254"/>
            <a:ext cx="6093500" cy="830997"/>
          </a:xfrm>
          <a:prstGeom prst="rect">
            <a:avLst/>
          </a:prstGeom>
          <a:noFill/>
        </p:spPr>
        <p:txBody>
          <a:bodyPr wrap="square">
            <a:spAutoFit/>
          </a:bodyPr>
          <a:lstStyle/>
          <a:p>
            <a:r>
              <a:rPr lang="en-IN" sz="2400" dirty="0"/>
              <a:t>Average Number of Patients Admitted per Day</a:t>
            </a:r>
          </a:p>
        </p:txBody>
      </p:sp>
      <p:sp>
        <p:nvSpPr>
          <p:cNvPr id="27" name="TextBox 26">
            <a:extLst>
              <a:ext uri="{FF2B5EF4-FFF2-40B4-BE49-F238E27FC236}">
                <a16:creationId xmlns:a16="http://schemas.microsoft.com/office/drawing/2014/main" id="{BCED49F8-40CA-098C-6F47-DCB1E3BE6D08}"/>
              </a:ext>
            </a:extLst>
          </p:cNvPr>
          <p:cNvSpPr txBox="1"/>
          <p:nvPr/>
        </p:nvSpPr>
        <p:spPr>
          <a:xfrm>
            <a:off x="3140440" y="4100929"/>
            <a:ext cx="5373973" cy="461665"/>
          </a:xfrm>
          <a:prstGeom prst="rect">
            <a:avLst/>
          </a:prstGeom>
          <a:noFill/>
        </p:spPr>
        <p:txBody>
          <a:bodyPr wrap="square" rtlCol="0">
            <a:spAutoFit/>
          </a:bodyPr>
          <a:lstStyle/>
          <a:p>
            <a:r>
              <a:rPr lang="en-IN" sz="2400" dirty="0"/>
              <a:t>Number of Patients Admitted This Year</a:t>
            </a:r>
          </a:p>
        </p:txBody>
      </p:sp>
      <p:sp>
        <p:nvSpPr>
          <p:cNvPr id="29" name="TextBox 28">
            <a:extLst>
              <a:ext uri="{FF2B5EF4-FFF2-40B4-BE49-F238E27FC236}">
                <a16:creationId xmlns:a16="http://schemas.microsoft.com/office/drawing/2014/main" id="{378C7A47-178C-1014-2E72-5E1CCB06A126}"/>
              </a:ext>
            </a:extLst>
          </p:cNvPr>
          <p:cNvSpPr txBox="1"/>
          <p:nvPr/>
        </p:nvSpPr>
        <p:spPr>
          <a:xfrm>
            <a:off x="3140440" y="5678284"/>
            <a:ext cx="5493894" cy="461665"/>
          </a:xfrm>
          <a:prstGeom prst="rect">
            <a:avLst/>
          </a:prstGeom>
          <a:noFill/>
        </p:spPr>
        <p:txBody>
          <a:bodyPr wrap="square" rtlCol="0">
            <a:spAutoFit/>
          </a:bodyPr>
          <a:lstStyle/>
          <a:p>
            <a:r>
              <a:rPr lang="en-IN" sz="2400" dirty="0"/>
              <a:t>Number of Patients Admitted Last Year</a:t>
            </a:r>
          </a:p>
        </p:txBody>
      </p:sp>
    </p:spTree>
    <p:extLst>
      <p:ext uri="{BB962C8B-B14F-4D97-AF65-F5344CB8AC3E}">
        <p14:creationId xmlns:p14="http://schemas.microsoft.com/office/powerpoint/2010/main" val="3402132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a:extLst>
              <a:ext uri="{FF2B5EF4-FFF2-40B4-BE49-F238E27FC236}">
                <a16:creationId xmlns:a16="http://schemas.microsoft.com/office/drawing/2014/main" id="{276229DB-14D6-8BCA-0902-F036AB1DA5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837" y="2046711"/>
            <a:ext cx="5871033" cy="4353533"/>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pic>
        <p:nvPicPr>
          <p:cNvPr id="7" name="Picture 6" descr="A graph of numbers and text&#10;&#10;AI-generated content may be incorrect.">
            <a:extLst>
              <a:ext uri="{FF2B5EF4-FFF2-40B4-BE49-F238E27FC236}">
                <a16:creationId xmlns:a16="http://schemas.microsoft.com/office/drawing/2014/main" id="{04D86497-C1CA-4539-C645-BF94B78975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0663" y="2046711"/>
            <a:ext cx="5161500" cy="4353533"/>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sp>
        <p:nvSpPr>
          <p:cNvPr id="9" name="TextBox 8">
            <a:extLst>
              <a:ext uri="{FF2B5EF4-FFF2-40B4-BE49-F238E27FC236}">
                <a16:creationId xmlns:a16="http://schemas.microsoft.com/office/drawing/2014/main" id="{FC8576CC-002D-0463-BA22-72235771AFF9}"/>
              </a:ext>
            </a:extLst>
          </p:cNvPr>
          <p:cNvSpPr txBox="1"/>
          <p:nvPr/>
        </p:nvSpPr>
        <p:spPr>
          <a:xfrm>
            <a:off x="1046868" y="974359"/>
            <a:ext cx="4616970" cy="584775"/>
          </a:xfrm>
          <a:prstGeom prst="rect">
            <a:avLst/>
          </a:prstGeom>
          <a:noFill/>
        </p:spPr>
        <p:txBody>
          <a:bodyPr wrap="square" rtlCol="0">
            <a:spAutoFit/>
          </a:bodyPr>
          <a:lstStyle/>
          <a:p>
            <a:pPr algn="ctr"/>
            <a:r>
              <a:rPr lang="en-IN" sz="3200" b="1" u="sng" dirty="0">
                <a:effectLst>
                  <a:outerShdw blurRad="38100" dist="38100" dir="2700000" algn="tl">
                    <a:srgbClr val="000000">
                      <a:alpha val="43137"/>
                    </a:srgbClr>
                  </a:outerShdw>
                </a:effectLst>
                <a:latin typeface="Constantia" panose="02030602050306030303" pitchFamily="18" charset="0"/>
              </a:rPr>
              <a:t>Decomposition Tree</a:t>
            </a:r>
          </a:p>
        </p:txBody>
      </p:sp>
      <p:sp>
        <p:nvSpPr>
          <p:cNvPr id="10" name="TextBox 9">
            <a:extLst>
              <a:ext uri="{FF2B5EF4-FFF2-40B4-BE49-F238E27FC236}">
                <a16:creationId xmlns:a16="http://schemas.microsoft.com/office/drawing/2014/main" id="{48A70C3E-7279-0D60-F018-5434263681DA}"/>
              </a:ext>
            </a:extLst>
          </p:cNvPr>
          <p:cNvSpPr txBox="1"/>
          <p:nvPr/>
        </p:nvSpPr>
        <p:spPr>
          <a:xfrm>
            <a:off x="6882928" y="974360"/>
            <a:ext cx="4616970" cy="584775"/>
          </a:xfrm>
          <a:prstGeom prst="rect">
            <a:avLst/>
          </a:prstGeom>
          <a:noFill/>
        </p:spPr>
        <p:txBody>
          <a:bodyPr wrap="square" rtlCol="0">
            <a:spAutoFit/>
          </a:bodyPr>
          <a:lstStyle/>
          <a:p>
            <a:pPr algn="ctr"/>
            <a:r>
              <a:rPr lang="en-IN" sz="3200" b="1" u="sng" dirty="0">
                <a:effectLst>
                  <a:outerShdw blurRad="38100" dist="38100" dir="2700000" algn="tl">
                    <a:srgbClr val="000000">
                      <a:alpha val="43137"/>
                    </a:srgbClr>
                  </a:outerShdw>
                </a:effectLst>
                <a:latin typeface="Constantia" panose="02030602050306030303" pitchFamily="18" charset="0"/>
              </a:rPr>
              <a:t>Tooltip</a:t>
            </a:r>
          </a:p>
        </p:txBody>
      </p:sp>
    </p:spTree>
    <p:extLst>
      <p:ext uri="{BB962C8B-B14F-4D97-AF65-F5344CB8AC3E}">
        <p14:creationId xmlns:p14="http://schemas.microsoft.com/office/powerpoint/2010/main" val="2523038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pie chart with text&#10;&#10;AI-generated content may be incorrect.">
            <a:extLst>
              <a:ext uri="{FF2B5EF4-FFF2-40B4-BE49-F238E27FC236}">
                <a16:creationId xmlns:a16="http://schemas.microsoft.com/office/drawing/2014/main" id="{85038254-E040-E3EE-05A4-954E04B421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4499" y="1761936"/>
            <a:ext cx="3622549" cy="2894025"/>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sp>
        <p:nvSpPr>
          <p:cNvPr id="6" name="TextBox 5">
            <a:extLst>
              <a:ext uri="{FF2B5EF4-FFF2-40B4-BE49-F238E27FC236}">
                <a16:creationId xmlns:a16="http://schemas.microsoft.com/office/drawing/2014/main" id="{9DD49131-D40F-64D2-3AC7-3398DAC539F7}"/>
              </a:ext>
            </a:extLst>
          </p:cNvPr>
          <p:cNvSpPr txBox="1"/>
          <p:nvPr/>
        </p:nvSpPr>
        <p:spPr>
          <a:xfrm>
            <a:off x="6261315" y="470029"/>
            <a:ext cx="3781586" cy="523220"/>
          </a:xfrm>
          <a:prstGeom prst="rect">
            <a:avLst/>
          </a:prstGeom>
          <a:noFill/>
        </p:spPr>
        <p:txBody>
          <a:bodyPr wrap="square" rtlCol="0">
            <a:spAutoFit/>
          </a:bodyPr>
          <a:lstStyle/>
          <a:p>
            <a:pPr algn="ctr"/>
            <a:r>
              <a:rPr lang="en-IN" sz="2800" b="1" u="sng" dirty="0">
                <a:effectLst>
                  <a:outerShdw blurRad="38100" dist="38100" dir="2700000" algn="tl">
                    <a:srgbClr val="000000">
                      <a:alpha val="43137"/>
                    </a:srgbClr>
                  </a:outerShdw>
                </a:effectLst>
                <a:latin typeface="Constantia" panose="02030602050306030303" pitchFamily="18" charset="0"/>
              </a:rPr>
              <a:t>Pie Chart</a:t>
            </a:r>
          </a:p>
        </p:txBody>
      </p:sp>
      <p:sp>
        <p:nvSpPr>
          <p:cNvPr id="8" name="TextBox 7">
            <a:extLst>
              <a:ext uri="{FF2B5EF4-FFF2-40B4-BE49-F238E27FC236}">
                <a16:creationId xmlns:a16="http://schemas.microsoft.com/office/drawing/2014/main" id="{75FCBAE9-11E5-DF96-BFE9-F028A0637877}"/>
              </a:ext>
            </a:extLst>
          </p:cNvPr>
          <p:cNvSpPr txBox="1"/>
          <p:nvPr/>
        </p:nvSpPr>
        <p:spPr>
          <a:xfrm>
            <a:off x="5253924" y="1761936"/>
            <a:ext cx="6400801" cy="461665"/>
          </a:xfrm>
          <a:prstGeom prst="rect">
            <a:avLst/>
          </a:prstGeom>
          <a:noFill/>
        </p:spPr>
        <p:txBody>
          <a:bodyPr wrap="square" rtlCol="0">
            <a:spAutoFit/>
          </a:bodyPr>
          <a:lstStyle/>
          <a:p>
            <a:r>
              <a:rPr lang="en-IN" sz="2400" dirty="0">
                <a:solidFill>
                  <a:schemeClr val="bg1">
                    <a:lumMod val="65000"/>
                  </a:schemeClr>
                </a:solidFill>
                <a:latin typeface="Constantia" panose="02030602050306030303" pitchFamily="18" charset="0"/>
              </a:rPr>
              <a:t>Total Patients by Adult and Child Age Group</a:t>
            </a:r>
          </a:p>
        </p:txBody>
      </p:sp>
      <p:sp>
        <p:nvSpPr>
          <p:cNvPr id="9" name="TextBox 8">
            <a:extLst>
              <a:ext uri="{FF2B5EF4-FFF2-40B4-BE49-F238E27FC236}">
                <a16:creationId xmlns:a16="http://schemas.microsoft.com/office/drawing/2014/main" id="{55C0CE42-A0F0-B8ED-A1F4-AA5B15DDB99E}"/>
              </a:ext>
            </a:extLst>
          </p:cNvPr>
          <p:cNvSpPr txBox="1"/>
          <p:nvPr/>
        </p:nvSpPr>
        <p:spPr>
          <a:xfrm>
            <a:off x="5455403" y="2690335"/>
            <a:ext cx="5393411" cy="1477328"/>
          </a:xfrm>
          <a:prstGeom prst="rect">
            <a:avLst/>
          </a:prstGeom>
          <a:noFill/>
        </p:spPr>
        <p:txBody>
          <a:bodyPr wrap="square" rtlCol="0">
            <a:spAutoFit/>
          </a:bodyPr>
          <a:lstStyle/>
          <a:p>
            <a:r>
              <a:rPr lang="en-IN" dirty="0"/>
              <a:t>      </a:t>
            </a:r>
            <a:r>
              <a:rPr lang="en-IN" u="sng" dirty="0"/>
              <a:t>This chart shows that :-</a:t>
            </a:r>
          </a:p>
          <a:p>
            <a:pPr marL="285750" indent="-285750">
              <a:buFont typeface="Wingdings" panose="05000000000000000000" pitchFamily="2" charset="2"/>
              <a:buChar char="Ø"/>
            </a:pPr>
            <a:r>
              <a:rPr lang="en-IN" dirty="0"/>
              <a:t>The comparison of the numbers of patients admitted between adult and child.</a:t>
            </a:r>
          </a:p>
          <a:p>
            <a:pPr marL="285750" indent="-285750">
              <a:buFont typeface="Wingdings" panose="05000000000000000000" pitchFamily="2" charset="2"/>
              <a:buChar char="Ø"/>
            </a:pPr>
            <a:r>
              <a:rPr lang="en-IN" dirty="0"/>
              <a:t>The adult group contains 85% of total patients.</a:t>
            </a:r>
          </a:p>
          <a:p>
            <a:pPr marL="285750" indent="-285750">
              <a:buFont typeface="Wingdings" panose="05000000000000000000" pitchFamily="2" charset="2"/>
              <a:buChar char="Ø"/>
            </a:pPr>
            <a:r>
              <a:rPr lang="en-IN" dirty="0"/>
              <a:t>The child group contains 15% of total patients.</a:t>
            </a:r>
          </a:p>
        </p:txBody>
      </p:sp>
    </p:spTree>
    <p:extLst>
      <p:ext uri="{BB962C8B-B14F-4D97-AF65-F5344CB8AC3E}">
        <p14:creationId xmlns:p14="http://schemas.microsoft.com/office/powerpoint/2010/main" val="518027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patients with blue bars">
            <a:extLst>
              <a:ext uri="{FF2B5EF4-FFF2-40B4-BE49-F238E27FC236}">
                <a16:creationId xmlns:a16="http://schemas.microsoft.com/office/drawing/2014/main" id="{69E1AF26-7AD8-CD80-AAF1-0E4AC171C2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447" y="2052445"/>
            <a:ext cx="4477375" cy="2753109"/>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sp>
        <p:nvSpPr>
          <p:cNvPr id="6" name="TextBox 5">
            <a:extLst>
              <a:ext uri="{FF2B5EF4-FFF2-40B4-BE49-F238E27FC236}">
                <a16:creationId xmlns:a16="http://schemas.microsoft.com/office/drawing/2014/main" id="{E41821F2-8277-5B77-D9B5-66098D502D33}"/>
              </a:ext>
            </a:extLst>
          </p:cNvPr>
          <p:cNvSpPr txBox="1"/>
          <p:nvPr/>
        </p:nvSpPr>
        <p:spPr>
          <a:xfrm>
            <a:off x="5981076" y="479684"/>
            <a:ext cx="4811843" cy="507831"/>
          </a:xfrm>
          <a:prstGeom prst="rect">
            <a:avLst/>
          </a:prstGeom>
          <a:noFill/>
        </p:spPr>
        <p:txBody>
          <a:bodyPr wrap="square" rtlCol="0">
            <a:spAutoFit/>
          </a:bodyPr>
          <a:lstStyle/>
          <a:p>
            <a:pPr algn="ctr"/>
            <a:r>
              <a:rPr lang="en-IN" sz="2700" b="1" u="sng" dirty="0">
                <a:effectLst>
                  <a:outerShdw blurRad="38100" dist="38100" dir="2700000" algn="tl">
                    <a:srgbClr val="000000">
                      <a:alpha val="43137"/>
                    </a:srgbClr>
                  </a:outerShdw>
                </a:effectLst>
                <a:latin typeface="Constantia" panose="02030602050306030303" pitchFamily="18" charset="0"/>
              </a:rPr>
              <a:t>Bar Chart</a:t>
            </a:r>
          </a:p>
        </p:txBody>
      </p:sp>
      <p:sp>
        <p:nvSpPr>
          <p:cNvPr id="7" name="TextBox 6">
            <a:extLst>
              <a:ext uri="{FF2B5EF4-FFF2-40B4-BE49-F238E27FC236}">
                <a16:creationId xmlns:a16="http://schemas.microsoft.com/office/drawing/2014/main" id="{90303328-B865-C73F-C591-03E0DB20FDB1}"/>
              </a:ext>
            </a:extLst>
          </p:cNvPr>
          <p:cNvSpPr txBox="1"/>
          <p:nvPr/>
        </p:nvSpPr>
        <p:spPr>
          <a:xfrm>
            <a:off x="5951096" y="2690335"/>
            <a:ext cx="5471409" cy="1477328"/>
          </a:xfrm>
          <a:prstGeom prst="rect">
            <a:avLst/>
          </a:prstGeom>
          <a:noFill/>
        </p:spPr>
        <p:txBody>
          <a:bodyPr wrap="square" rtlCol="0">
            <a:spAutoFit/>
          </a:bodyPr>
          <a:lstStyle/>
          <a:p>
            <a:r>
              <a:rPr lang="en-IN" dirty="0"/>
              <a:t>      </a:t>
            </a:r>
            <a:r>
              <a:rPr lang="en-IN" u="sng" dirty="0"/>
              <a:t>This chart shows that :-</a:t>
            </a:r>
          </a:p>
          <a:p>
            <a:pPr marL="285750" indent="-285750">
              <a:buFont typeface="Wingdings" panose="05000000000000000000" pitchFamily="2" charset="2"/>
              <a:buChar char="Ø"/>
            </a:pPr>
            <a:r>
              <a:rPr lang="en-IN" dirty="0"/>
              <a:t>Top 5 departments which has highest number of patients.</a:t>
            </a:r>
          </a:p>
          <a:p>
            <a:pPr marL="285750" indent="-285750">
              <a:buFont typeface="Wingdings" panose="05000000000000000000" pitchFamily="2" charset="2"/>
              <a:buChar char="Ø"/>
            </a:pPr>
            <a:r>
              <a:rPr lang="en-IN" dirty="0"/>
              <a:t>The most of the patients visited hospital for the problems regarding to Bones, ENT and General</a:t>
            </a:r>
          </a:p>
        </p:txBody>
      </p:sp>
      <p:sp>
        <p:nvSpPr>
          <p:cNvPr id="9" name="TextBox 8">
            <a:extLst>
              <a:ext uri="{FF2B5EF4-FFF2-40B4-BE49-F238E27FC236}">
                <a16:creationId xmlns:a16="http://schemas.microsoft.com/office/drawing/2014/main" id="{49133EF2-584C-FE6C-2D6E-1D83B519B533}"/>
              </a:ext>
            </a:extLst>
          </p:cNvPr>
          <p:cNvSpPr txBox="1"/>
          <p:nvPr/>
        </p:nvSpPr>
        <p:spPr>
          <a:xfrm>
            <a:off x="6041037" y="1681835"/>
            <a:ext cx="5291526" cy="461665"/>
          </a:xfrm>
          <a:prstGeom prst="rect">
            <a:avLst/>
          </a:prstGeom>
          <a:noFill/>
        </p:spPr>
        <p:txBody>
          <a:bodyPr wrap="square" rtlCol="0">
            <a:spAutoFit/>
          </a:bodyPr>
          <a:lstStyle/>
          <a:p>
            <a:r>
              <a:rPr lang="en-IN" sz="2400" dirty="0">
                <a:solidFill>
                  <a:schemeClr val="bg1">
                    <a:lumMod val="65000"/>
                  </a:schemeClr>
                </a:solidFill>
                <a:latin typeface="Constantia" panose="02030602050306030303" pitchFamily="18" charset="0"/>
              </a:rPr>
              <a:t>Total</a:t>
            </a:r>
            <a:r>
              <a:rPr lang="en-IN" dirty="0"/>
              <a:t> </a:t>
            </a:r>
            <a:r>
              <a:rPr lang="en-IN" sz="2400" dirty="0">
                <a:solidFill>
                  <a:schemeClr val="bg1">
                    <a:lumMod val="65000"/>
                  </a:schemeClr>
                </a:solidFill>
                <a:latin typeface="Constantia" panose="02030602050306030303" pitchFamily="18" charset="0"/>
              </a:rPr>
              <a:t>Patients</a:t>
            </a:r>
            <a:r>
              <a:rPr lang="en-IN" dirty="0"/>
              <a:t> </a:t>
            </a:r>
            <a:r>
              <a:rPr lang="en-IN" sz="2400" dirty="0">
                <a:solidFill>
                  <a:schemeClr val="bg1">
                    <a:lumMod val="65000"/>
                  </a:schemeClr>
                </a:solidFill>
                <a:latin typeface="Constantia" panose="02030602050306030303" pitchFamily="18" charset="0"/>
              </a:rPr>
              <a:t>by</a:t>
            </a:r>
            <a:r>
              <a:rPr lang="en-IN" dirty="0"/>
              <a:t> </a:t>
            </a:r>
            <a:r>
              <a:rPr lang="en-IN" sz="2400" dirty="0">
                <a:solidFill>
                  <a:schemeClr val="bg1">
                    <a:lumMod val="65000"/>
                  </a:schemeClr>
                </a:solidFill>
                <a:latin typeface="Constantia" panose="02030602050306030303" pitchFamily="18" charset="0"/>
              </a:rPr>
              <a:t>the</a:t>
            </a:r>
            <a:r>
              <a:rPr lang="en-IN" dirty="0"/>
              <a:t> </a:t>
            </a:r>
            <a:r>
              <a:rPr lang="en-IN" sz="2400" dirty="0">
                <a:solidFill>
                  <a:schemeClr val="bg1">
                    <a:lumMod val="65000"/>
                  </a:schemeClr>
                </a:solidFill>
                <a:latin typeface="Constantia" panose="02030602050306030303" pitchFamily="18" charset="0"/>
              </a:rPr>
              <a:t>Specialty</a:t>
            </a:r>
            <a:r>
              <a:rPr lang="en-IN" dirty="0"/>
              <a:t> </a:t>
            </a:r>
            <a:r>
              <a:rPr lang="en-IN" sz="2400" dirty="0">
                <a:solidFill>
                  <a:schemeClr val="bg1">
                    <a:lumMod val="65000"/>
                  </a:schemeClr>
                </a:solidFill>
                <a:latin typeface="Constantia" panose="02030602050306030303" pitchFamily="18" charset="0"/>
              </a:rPr>
              <a:t>Groups</a:t>
            </a:r>
          </a:p>
        </p:txBody>
      </p:sp>
    </p:spTree>
    <p:extLst>
      <p:ext uri="{BB962C8B-B14F-4D97-AF65-F5344CB8AC3E}">
        <p14:creationId xmlns:p14="http://schemas.microsoft.com/office/powerpoint/2010/main" val="3739212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text on it">
            <a:extLst>
              <a:ext uri="{FF2B5EF4-FFF2-40B4-BE49-F238E27FC236}">
                <a16:creationId xmlns:a16="http://schemas.microsoft.com/office/drawing/2014/main" id="{70B444E8-AC43-B12E-9A49-55BCBC506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387" y="1464142"/>
            <a:ext cx="4155426" cy="2973423"/>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sp>
        <p:nvSpPr>
          <p:cNvPr id="6" name="TextBox 5">
            <a:extLst>
              <a:ext uri="{FF2B5EF4-FFF2-40B4-BE49-F238E27FC236}">
                <a16:creationId xmlns:a16="http://schemas.microsoft.com/office/drawing/2014/main" id="{D1236B7D-291F-ADAA-F30E-493D8D2E8F3A}"/>
              </a:ext>
            </a:extLst>
          </p:cNvPr>
          <p:cNvSpPr txBox="1"/>
          <p:nvPr/>
        </p:nvSpPr>
        <p:spPr>
          <a:xfrm>
            <a:off x="5981076" y="464694"/>
            <a:ext cx="4482059" cy="507831"/>
          </a:xfrm>
          <a:prstGeom prst="rect">
            <a:avLst/>
          </a:prstGeom>
          <a:noFill/>
        </p:spPr>
        <p:txBody>
          <a:bodyPr wrap="square" rtlCol="0">
            <a:spAutoFit/>
          </a:bodyPr>
          <a:lstStyle/>
          <a:p>
            <a:pPr algn="ctr"/>
            <a:r>
              <a:rPr lang="en-IN" sz="2700" b="1" u="sng" dirty="0">
                <a:effectLst>
                  <a:outerShdw blurRad="38100" dist="38100" dir="2700000" algn="tl">
                    <a:srgbClr val="000000">
                      <a:alpha val="43137"/>
                    </a:srgbClr>
                  </a:outerShdw>
                </a:effectLst>
                <a:latin typeface="Constantia" panose="02030602050306030303" pitchFamily="18" charset="0"/>
              </a:rPr>
              <a:t>Area Chart</a:t>
            </a:r>
          </a:p>
        </p:txBody>
      </p:sp>
      <p:sp>
        <p:nvSpPr>
          <p:cNvPr id="7" name="TextBox 6">
            <a:extLst>
              <a:ext uri="{FF2B5EF4-FFF2-40B4-BE49-F238E27FC236}">
                <a16:creationId xmlns:a16="http://schemas.microsoft.com/office/drawing/2014/main" id="{3A828A23-C623-577A-CAAF-59AEE03351D7}"/>
              </a:ext>
            </a:extLst>
          </p:cNvPr>
          <p:cNvSpPr txBox="1"/>
          <p:nvPr/>
        </p:nvSpPr>
        <p:spPr>
          <a:xfrm>
            <a:off x="5756223" y="1600306"/>
            <a:ext cx="5734390" cy="461665"/>
          </a:xfrm>
          <a:prstGeom prst="rect">
            <a:avLst/>
          </a:prstGeom>
          <a:noFill/>
        </p:spPr>
        <p:txBody>
          <a:bodyPr wrap="square" rtlCol="0">
            <a:spAutoFit/>
          </a:bodyPr>
          <a:lstStyle/>
          <a:p>
            <a:r>
              <a:rPr lang="en-IN" sz="2400" dirty="0">
                <a:solidFill>
                  <a:schemeClr val="bg1">
                    <a:lumMod val="65000"/>
                  </a:schemeClr>
                </a:solidFill>
                <a:latin typeface="Constantia" panose="02030602050306030303" pitchFamily="18" charset="0"/>
              </a:rPr>
              <a:t>Total number of patients District Name</a:t>
            </a:r>
          </a:p>
        </p:txBody>
      </p:sp>
      <p:sp>
        <p:nvSpPr>
          <p:cNvPr id="8" name="TextBox 7">
            <a:extLst>
              <a:ext uri="{FF2B5EF4-FFF2-40B4-BE49-F238E27FC236}">
                <a16:creationId xmlns:a16="http://schemas.microsoft.com/office/drawing/2014/main" id="{62D14537-AA04-1E51-A711-156308F7B6D9}"/>
              </a:ext>
            </a:extLst>
          </p:cNvPr>
          <p:cNvSpPr txBox="1"/>
          <p:nvPr/>
        </p:nvSpPr>
        <p:spPr>
          <a:xfrm>
            <a:off x="5756223" y="2683239"/>
            <a:ext cx="5456420" cy="1754326"/>
          </a:xfrm>
          <a:prstGeom prst="rect">
            <a:avLst/>
          </a:prstGeom>
          <a:noFill/>
        </p:spPr>
        <p:txBody>
          <a:bodyPr wrap="square" rtlCol="0">
            <a:spAutoFit/>
          </a:bodyPr>
          <a:lstStyle/>
          <a:p>
            <a:r>
              <a:rPr lang="en-IN" dirty="0"/>
              <a:t>       </a:t>
            </a:r>
            <a:r>
              <a:rPr lang="en-IN" u="sng" dirty="0"/>
              <a:t>This chart shows that :-</a:t>
            </a:r>
          </a:p>
          <a:p>
            <a:pPr marL="285750" indent="-285750">
              <a:buFont typeface="Wingdings" panose="05000000000000000000" pitchFamily="2" charset="2"/>
              <a:buChar char="Ø"/>
            </a:pPr>
            <a:r>
              <a:rPr lang="en-IN" dirty="0"/>
              <a:t>Top 5 districts which had most numbers of patients.</a:t>
            </a:r>
          </a:p>
          <a:p>
            <a:pPr marL="285750" indent="-285750">
              <a:buFont typeface="Wingdings" panose="05000000000000000000" pitchFamily="2" charset="2"/>
              <a:buChar char="Ø"/>
            </a:pPr>
            <a:r>
              <a:rPr lang="en-IN" dirty="0"/>
              <a:t>The Chandrapur had the highest number of patients.</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84984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a line going up&#10;&#10;AI-generated content may be incorrect.">
            <a:extLst>
              <a:ext uri="{FF2B5EF4-FFF2-40B4-BE49-F238E27FC236}">
                <a16:creationId xmlns:a16="http://schemas.microsoft.com/office/drawing/2014/main" id="{2352A2F8-1FDC-85DF-106C-D6DD0791B4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857" y="830573"/>
            <a:ext cx="5507212" cy="2778309"/>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pic>
        <p:nvPicPr>
          <p:cNvPr id="7" name="Picture 6" descr="A graph of a number of months&#10;&#10;AI-generated content may be incorrect.">
            <a:extLst>
              <a:ext uri="{FF2B5EF4-FFF2-40B4-BE49-F238E27FC236}">
                <a16:creationId xmlns:a16="http://schemas.microsoft.com/office/drawing/2014/main" id="{122043DE-6AC1-0648-C7D6-15461DC30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57" y="3873576"/>
            <a:ext cx="5507212" cy="2778309"/>
          </a:xfrm>
          <a:prstGeom prst="rect">
            <a:avLst/>
          </a:prstGeom>
          <a:ln>
            <a:noFill/>
          </a:ln>
          <a:effectLst>
            <a:glow rad="63500">
              <a:schemeClr val="tx1">
                <a:lumMod val="95000"/>
                <a:lumOff val="5000"/>
                <a:alpha val="40000"/>
              </a:schemeClr>
            </a:glow>
            <a:outerShdw blurRad="149987" dist="250190" dir="8460000" algn="ctr">
              <a:srgbClr val="000000">
                <a:alpha val="28000"/>
              </a:srgbClr>
            </a:outerShdw>
            <a:softEdge rad="0"/>
          </a:effectLst>
          <a:scene3d>
            <a:camera prst="orthographicFront">
              <a:rot lat="0" lon="0" rev="0"/>
            </a:camera>
            <a:lightRig rig="contrasting" dir="t">
              <a:rot lat="0" lon="0" rev="1500000"/>
            </a:lightRig>
          </a:scene3d>
          <a:sp3d prstMaterial="metal">
            <a:bevelT w="88900" h="88900"/>
          </a:sp3d>
        </p:spPr>
      </p:pic>
      <p:sp>
        <p:nvSpPr>
          <p:cNvPr id="8" name="TextBox 7">
            <a:extLst>
              <a:ext uri="{FF2B5EF4-FFF2-40B4-BE49-F238E27FC236}">
                <a16:creationId xmlns:a16="http://schemas.microsoft.com/office/drawing/2014/main" id="{F25FD0B1-20D2-3CF1-8896-C95BBBF2F78F}"/>
              </a:ext>
            </a:extLst>
          </p:cNvPr>
          <p:cNvSpPr txBox="1"/>
          <p:nvPr/>
        </p:nvSpPr>
        <p:spPr>
          <a:xfrm>
            <a:off x="4297180" y="104214"/>
            <a:ext cx="3597639" cy="461665"/>
          </a:xfrm>
          <a:prstGeom prst="rect">
            <a:avLst/>
          </a:prstGeom>
          <a:noFill/>
        </p:spPr>
        <p:txBody>
          <a:bodyPr wrap="square" rtlCol="0">
            <a:spAutoFit/>
          </a:bodyPr>
          <a:lstStyle/>
          <a:p>
            <a:pPr algn="ctr"/>
            <a:r>
              <a:rPr lang="en-IN" sz="2400" b="1" u="sng" dirty="0">
                <a:effectLst>
                  <a:outerShdw blurRad="38100" dist="38100" dir="2700000" algn="tl">
                    <a:srgbClr val="000000">
                      <a:alpha val="43137"/>
                    </a:srgbClr>
                  </a:outerShdw>
                </a:effectLst>
                <a:latin typeface="Constantia" panose="02030602050306030303" pitchFamily="18" charset="0"/>
              </a:rPr>
              <a:t>Line Chart</a:t>
            </a:r>
          </a:p>
        </p:txBody>
      </p:sp>
      <p:sp>
        <p:nvSpPr>
          <p:cNvPr id="13" name="TextBox 12">
            <a:extLst>
              <a:ext uri="{FF2B5EF4-FFF2-40B4-BE49-F238E27FC236}">
                <a16:creationId xmlns:a16="http://schemas.microsoft.com/office/drawing/2014/main" id="{2CFBEDDE-0E0C-6AC3-26AB-CBB13887C192}"/>
              </a:ext>
            </a:extLst>
          </p:cNvPr>
          <p:cNvSpPr txBox="1"/>
          <p:nvPr/>
        </p:nvSpPr>
        <p:spPr>
          <a:xfrm>
            <a:off x="6664271" y="1342564"/>
            <a:ext cx="4602997" cy="1754326"/>
          </a:xfrm>
          <a:prstGeom prst="rect">
            <a:avLst/>
          </a:prstGeom>
          <a:noFill/>
        </p:spPr>
        <p:txBody>
          <a:bodyPr wrap="square" rtlCol="0">
            <a:spAutoFit/>
          </a:bodyPr>
          <a:lstStyle/>
          <a:p>
            <a:r>
              <a:rPr lang="en-IN" dirty="0"/>
              <a:t>      </a:t>
            </a:r>
            <a:r>
              <a:rPr lang="en-IN" u="sng" dirty="0"/>
              <a:t>This chart shows that :-</a:t>
            </a:r>
          </a:p>
          <a:p>
            <a:pPr marL="285750" indent="-285750">
              <a:buFont typeface="Wingdings" panose="05000000000000000000" pitchFamily="2" charset="2"/>
              <a:buChar char="Ø"/>
            </a:pPr>
            <a:r>
              <a:rPr lang="en-IN" dirty="0"/>
              <a:t>There is small fall in number of patients admitted in November and December </a:t>
            </a:r>
          </a:p>
          <a:p>
            <a:pPr marL="285750" indent="-285750">
              <a:buFont typeface="Wingdings" panose="05000000000000000000" pitchFamily="2" charset="2"/>
              <a:buChar char="Ø"/>
            </a:pPr>
            <a:r>
              <a:rPr lang="en-IN" dirty="0"/>
              <a:t>Outpatients are higher than Inpatients and Day patient.</a:t>
            </a:r>
          </a:p>
          <a:p>
            <a:pPr marL="285750" indent="-285750">
              <a:buFont typeface="Wingdings" panose="05000000000000000000" pitchFamily="2" charset="2"/>
              <a:buChar char="Ø"/>
            </a:pPr>
            <a:endParaRPr lang="en-IN" dirty="0"/>
          </a:p>
        </p:txBody>
      </p:sp>
      <p:sp>
        <p:nvSpPr>
          <p:cNvPr id="15" name="TextBox 14">
            <a:extLst>
              <a:ext uri="{FF2B5EF4-FFF2-40B4-BE49-F238E27FC236}">
                <a16:creationId xmlns:a16="http://schemas.microsoft.com/office/drawing/2014/main" id="{ACB13354-5E4D-D0E9-B876-246101D2A9A0}"/>
              </a:ext>
            </a:extLst>
          </p:cNvPr>
          <p:cNvSpPr txBox="1"/>
          <p:nvPr/>
        </p:nvSpPr>
        <p:spPr>
          <a:xfrm>
            <a:off x="6664272" y="4662565"/>
            <a:ext cx="4602996" cy="1200329"/>
          </a:xfrm>
          <a:prstGeom prst="rect">
            <a:avLst/>
          </a:prstGeom>
          <a:noFill/>
        </p:spPr>
        <p:txBody>
          <a:bodyPr wrap="square" rtlCol="0">
            <a:spAutoFit/>
          </a:bodyPr>
          <a:lstStyle/>
          <a:p>
            <a:r>
              <a:rPr lang="en-IN" dirty="0"/>
              <a:t>      </a:t>
            </a:r>
            <a:r>
              <a:rPr lang="en-IN" u="sng" dirty="0"/>
              <a:t>This chart shows that :-</a:t>
            </a:r>
          </a:p>
          <a:p>
            <a:pPr marL="285750" indent="-285750">
              <a:buFont typeface="Wingdings" panose="05000000000000000000" pitchFamily="2" charset="2"/>
              <a:buChar char="Ø"/>
            </a:pPr>
            <a:r>
              <a:rPr lang="en-IN" dirty="0"/>
              <a:t>The day patients are more as compare to Inpatients.</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2363182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94B2DD-675F-0A14-EC7D-D61DE6DEE550}"/>
              </a:ext>
            </a:extLst>
          </p:cNvPr>
          <p:cNvSpPr txBox="1"/>
          <p:nvPr/>
        </p:nvSpPr>
        <p:spPr>
          <a:xfrm>
            <a:off x="164892" y="629587"/>
            <a:ext cx="9114019" cy="523220"/>
          </a:xfrm>
          <a:prstGeom prst="rect">
            <a:avLst/>
          </a:prstGeom>
          <a:noFill/>
        </p:spPr>
        <p:txBody>
          <a:bodyPr wrap="square" rtlCol="0">
            <a:spAutoFit/>
          </a:bodyPr>
          <a:lstStyle/>
          <a:p>
            <a:r>
              <a:rPr lang="en-IN" sz="2800" b="1" u="sng" dirty="0">
                <a:effectLst>
                  <a:outerShdw blurRad="38100" dist="38100" dir="2700000" algn="tl">
                    <a:srgbClr val="000000">
                      <a:alpha val="43137"/>
                    </a:srgbClr>
                  </a:outerShdw>
                </a:effectLst>
                <a:latin typeface="Constantia" panose="02030602050306030303" pitchFamily="18" charset="0"/>
              </a:rPr>
              <a:t>Suggestions for Hospital :-</a:t>
            </a:r>
          </a:p>
        </p:txBody>
      </p:sp>
      <p:sp>
        <p:nvSpPr>
          <p:cNvPr id="5" name="TextBox 4">
            <a:extLst>
              <a:ext uri="{FF2B5EF4-FFF2-40B4-BE49-F238E27FC236}">
                <a16:creationId xmlns:a16="http://schemas.microsoft.com/office/drawing/2014/main" id="{C304AC13-274E-2552-2F4D-E1C42B10709F}"/>
              </a:ext>
            </a:extLst>
          </p:cNvPr>
          <p:cNvSpPr txBox="1"/>
          <p:nvPr/>
        </p:nvSpPr>
        <p:spPr>
          <a:xfrm>
            <a:off x="164892" y="2128604"/>
            <a:ext cx="11197652" cy="1754326"/>
          </a:xfrm>
          <a:prstGeom prst="rect">
            <a:avLst/>
          </a:prstGeom>
          <a:noFill/>
        </p:spPr>
        <p:txBody>
          <a:bodyPr wrap="square" rtlCol="0">
            <a:spAutoFit/>
          </a:bodyPr>
          <a:lstStyle/>
          <a:p>
            <a:pPr marL="285750" indent="-285750">
              <a:buFont typeface="Wingdings" panose="05000000000000000000" pitchFamily="2" charset="2"/>
              <a:buChar char="Ø"/>
            </a:pPr>
            <a:r>
              <a:rPr lang="en-IN" dirty="0"/>
              <a:t>Hospital should ensure that enough doctors, beds, and service focused on the adult patients since they form the majority.</a:t>
            </a:r>
          </a:p>
          <a:p>
            <a:pPr marL="285750" indent="-285750">
              <a:buFont typeface="Wingdings" panose="05000000000000000000" pitchFamily="2" charset="2"/>
              <a:buChar char="Ø"/>
            </a:pPr>
            <a:r>
              <a:rPr lang="en-IN" dirty="0"/>
              <a:t>Provide more doctors, staffs, and services to the department like Bone and General which has the most number of patients to reduce the waiting time and improve the treatment of the patients.</a:t>
            </a:r>
          </a:p>
          <a:p>
            <a:pPr marL="285750" indent="-285750">
              <a:buFont typeface="Wingdings" panose="05000000000000000000" pitchFamily="2" charset="2"/>
              <a:buChar char="Ø"/>
            </a:pPr>
            <a:r>
              <a:rPr lang="en-IN" dirty="0"/>
              <a:t>Review paediatric department needs – like equipment, play area, or child-friendly spaces – to improve experience and care.</a:t>
            </a:r>
          </a:p>
        </p:txBody>
      </p:sp>
    </p:spTree>
    <p:extLst>
      <p:ext uri="{BB962C8B-B14F-4D97-AF65-F5344CB8AC3E}">
        <p14:creationId xmlns:p14="http://schemas.microsoft.com/office/powerpoint/2010/main" val="1278468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287</Words>
  <Application>Microsoft Office PowerPoint</Application>
  <PresentationFormat>Widescreen</PresentationFormat>
  <Paragraphs>36</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Constantia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Malusare</dc:creator>
  <cp:lastModifiedBy>Akshay Malusare</cp:lastModifiedBy>
  <cp:revision>3</cp:revision>
  <dcterms:created xsi:type="dcterms:W3CDTF">2025-08-03T19:40:04Z</dcterms:created>
  <dcterms:modified xsi:type="dcterms:W3CDTF">2025-08-04T05:30:17Z</dcterms:modified>
</cp:coreProperties>
</file>